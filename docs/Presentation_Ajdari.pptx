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Metadata/LabelInfo.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2.xml" ContentType="application/xml"/>
  <Override PartName="/customXml/itemProps1.xml" ContentType="application/vnd.openxmlformats-officedocument.customXmlProperties+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3.xml" ContentType="application/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Bahnschrift SemiLight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Bahnschrift SemiLight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EFBAD649-0651-4DE3-869E-F79459DB3BA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A2A2720-AAA0-4DDC-9F57-F596607EBDF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685800"/>
            <a:ext cx="10972440" cy="45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1097244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12720" y="-1134000"/>
            <a:ext cx="10652400" cy="4238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23196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09480" y="3043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23196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31964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802980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0948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431964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802980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685800"/>
            <a:ext cx="10972440" cy="45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1097244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612720" y="-1134000"/>
            <a:ext cx="10652400" cy="4238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23196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09480" y="3043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23196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31964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802980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0948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431964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802980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609480" y="685800"/>
            <a:ext cx="10972440" cy="45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1097244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ubTitle"/>
          </p:nvPr>
        </p:nvSpPr>
        <p:spPr>
          <a:xfrm>
            <a:off x="612720" y="-1134000"/>
            <a:ext cx="10652400" cy="4238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4514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23196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09480" y="3043800"/>
            <a:ext cx="109724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231960" y="685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60948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6231960" y="3043800"/>
            <a:ext cx="535428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431964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8029800" y="685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0948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body"/>
          </p:nvPr>
        </p:nvSpPr>
        <p:spPr>
          <a:xfrm>
            <a:off x="431964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130" name="PlaceHolder 7"/>
          <p:cNvSpPr>
            <a:spLocks noGrp="1"/>
          </p:cNvSpPr>
          <p:nvPr>
            <p:ph type="body"/>
          </p:nvPr>
        </p:nvSpPr>
        <p:spPr>
          <a:xfrm>
            <a:off x="8029800" y="3043800"/>
            <a:ext cx="3533040" cy="2153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12720" y="685800"/>
            <a:ext cx="10055160" cy="400716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80000"/>
              </a:lnSpc>
            </a:pPr>
            <a:r>
              <a:rPr b="0" lang="en-US" sz="9000" spc="-1" strike="noStrike" cap="all">
                <a:solidFill>
                  <a:srgbClr val="f6f2e6"/>
                </a:solidFill>
                <a:latin typeface="Bahnschrift SemiLight"/>
              </a:rPr>
              <a:t>Click to edit Master title style</a:t>
            </a:r>
            <a:endParaRPr b="0" lang="en-US" sz="9000" spc="-1" strike="noStrike">
              <a:solidFill>
                <a:srgbClr val="000000"/>
              </a:solidFill>
              <a:latin typeface="Bahnschrift Semi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612720" y="6343920"/>
            <a:ext cx="280512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 cap="all">
                <a:solidFill>
                  <a:srgbClr val="ffffff"/>
                </a:solidFill>
                <a:latin typeface="Bahnschrift SemiLight"/>
              </a:rPr>
              <a:t>Sample Footer Text</a:t>
            </a:r>
            <a:endParaRPr b="0" lang="en-US" sz="8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893800" y="6343920"/>
            <a:ext cx="220212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C81C52E4-FFCE-4398-A91B-8BB10F6FE420}" type="datetime1">
              <a:rPr b="0" lang="en-US" sz="800" spc="-1" strike="noStrike" cap="all">
                <a:solidFill>
                  <a:srgbClr val="ffffff"/>
                </a:solidFill>
                <a:latin typeface="Bahnschrift SemiLight"/>
              </a:rPr>
              <a:t>05/29/2026</a:t>
            </a:fld>
            <a:endParaRPr b="0" lang="en-US" sz="8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11147040" y="6343920"/>
            <a:ext cx="4287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90B99B9-66BE-4A26-B569-FDF1FD1DC335}" type="slidenum">
              <a:rPr b="0" lang="en-US" sz="800" spc="-1" strike="noStrike" cap="all">
                <a:solidFill>
                  <a:srgbClr val="ffffff"/>
                </a:solidFill>
                <a:latin typeface="Bahnschrift SemiLight"/>
              </a:rPr>
              <a:t>4</a:t>
            </a:fld>
            <a:endParaRPr b="0" lang="en-US" sz="800" spc="-1" strike="noStrike">
              <a:latin typeface="Times New Roman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11250720" y="4648320"/>
            <a:ext cx="6120" cy="744840"/>
          </a:xfrm>
          <a:custGeom>
            <a:avLst/>
            <a:gdLst/>
            <a:ahLst/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noFill/>
          <a:ln w="31680">
            <a:solidFill>
              <a:schemeClr val="accent4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CustomShape 6"/>
          <p:cNvSpPr/>
          <p:nvPr/>
        </p:nvSpPr>
        <p:spPr>
          <a:xfrm>
            <a:off x="685800" y="4998600"/>
            <a:ext cx="10923480" cy="360"/>
          </a:xfrm>
          <a:custGeom>
            <a:avLst/>
            <a:gdLst/>
            <a:ahLst/>
            <a:rect l="l" t="t" r="r" b="b"/>
            <a:pathLst>
              <a:path w="10923933" h="0">
                <a:moveTo>
                  <a:pt x="10923934" y="0"/>
                </a:moveTo>
                <a:lnTo>
                  <a:pt x="0" y="1"/>
                </a:lnTo>
              </a:path>
            </a:pathLst>
          </a:custGeom>
          <a:noFill/>
          <a:ln w="31680">
            <a:solidFill>
              <a:schemeClr val="accent4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" name="CustomShape 7"/>
          <p:cNvSpPr/>
          <p:nvPr/>
        </p:nvSpPr>
        <p:spPr>
          <a:xfrm>
            <a:off x="10998720" y="4730760"/>
            <a:ext cx="529560" cy="526680"/>
          </a:xfrm>
          <a:custGeom>
            <a:avLst/>
            <a:gdLst/>
            <a:ahLst/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noFill/>
          <a:ln w="31680">
            <a:solidFill>
              <a:schemeClr val="accent4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" name="CustomShape 8"/>
          <p:cNvSpPr/>
          <p:nvPr/>
        </p:nvSpPr>
        <p:spPr>
          <a:xfrm>
            <a:off x="10976040" y="4730760"/>
            <a:ext cx="529560" cy="526680"/>
          </a:xfrm>
          <a:custGeom>
            <a:avLst/>
            <a:gdLst/>
            <a:ahLst/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noFill/>
          <a:ln w="31680">
            <a:solidFill>
              <a:schemeClr val="accent4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" name="PlaceHolder 9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102"/>
                </a:solidFill>
                <a:latin typeface="Bahnschrift SemiLight"/>
              </a:rPr>
              <a:t>Click to edit the outline text format</a:t>
            </a:r>
            <a:endParaRPr b="0" lang="en-US" sz="1800" spc="-1" strike="noStrike">
              <a:solidFill>
                <a:srgbClr val="000102"/>
              </a:solidFill>
              <a:latin typeface="Bahnschrift SemiLight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>Second Outline Level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>Third Outline Level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>Fourth Outline Level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102"/>
                </a:solidFill>
                <a:latin typeface="Bahnschrift SemiLight"/>
              </a:rPr>
              <a:t>Fifth Outline Level</a:t>
            </a:r>
            <a:endParaRPr b="0" lang="en-US" sz="2000" spc="-1" strike="noStrike">
              <a:solidFill>
                <a:srgbClr val="000102"/>
              </a:solidFill>
              <a:latin typeface="Bahnschrift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102"/>
                </a:solidFill>
                <a:latin typeface="Bahnschrift SemiLight"/>
              </a:rPr>
              <a:t>Sixth Outline Level</a:t>
            </a:r>
            <a:endParaRPr b="0" lang="en-US" sz="2000" spc="-1" strike="noStrike">
              <a:solidFill>
                <a:srgbClr val="000102"/>
              </a:solidFill>
              <a:latin typeface="Bahnschrift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102"/>
                </a:solidFill>
                <a:latin typeface="Bahnschrift SemiLight"/>
              </a:rPr>
              <a:t>Seventh Outline Level</a:t>
            </a:r>
            <a:endParaRPr b="0" lang="en-US" sz="2000" spc="-1" strike="noStrike">
              <a:solidFill>
                <a:srgbClr val="000102"/>
              </a:solidFill>
              <a:latin typeface="Bahnschrift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12720" y="685800"/>
            <a:ext cx="10963440" cy="76176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80000"/>
              </a:lnSpc>
            </a:pPr>
            <a:r>
              <a:rPr b="0" lang="en-US" sz="5400" spc="-1" strike="noStrike" cap="all">
                <a:solidFill>
                  <a:srgbClr val="000102"/>
                </a:solidFill>
                <a:latin typeface="Bahnschrift SemiLight"/>
              </a:rPr>
              <a:t>Click to edit Master title style</a:t>
            </a:r>
            <a:endParaRPr b="0" lang="en-US" sz="5400" spc="-1" strike="noStrike">
              <a:solidFill>
                <a:srgbClr val="000000"/>
              </a:solidFill>
              <a:latin typeface="Bahnschrift Semi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12720" y="1828800"/>
            <a:ext cx="10963440" cy="434304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>Click to edit Master text styles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286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>Second level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4572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>Third level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6858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>Fourth level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9144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>Fifth level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/>
          </p:nvPr>
        </p:nvSpPr>
        <p:spPr>
          <a:xfrm>
            <a:off x="612720" y="6343920"/>
            <a:ext cx="280512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 cap="all">
                <a:solidFill>
                  <a:srgbClr val="000000"/>
                </a:solidFill>
                <a:latin typeface="Bahnschrift SemiLight"/>
              </a:rPr>
              <a:t>Sample Footer Text</a:t>
            </a:r>
            <a:endParaRPr b="0" lang="en-US" sz="8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/>
          </p:nvPr>
        </p:nvSpPr>
        <p:spPr>
          <a:xfrm>
            <a:off x="8893800" y="6343920"/>
            <a:ext cx="220212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C10CD47-0CAA-42A1-9476-73FD83FCACB4}" type="datetime1">
              <a:rPr b="0" lang="en-US" sz="800" spc="-1" strike="noStrike" cap="all">
                <a:solidFill>
                  <a:srgbClr val="000000"/>
                </a:solidFill>
                <a:latin typeface="Bahnschrift SemiLight"/>
              </a:rPr>
              <a:t>05/29/2026</a:t>
            </a:fld>
            <a:endParaRPr b="0" lang="en-US" sz="800" spc="-1" strike="noStrike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/>
          </p:nvPr>
        </p:nvSpPr>
        <p:spPr>
          <a:xfrm>
            <a:off x="11147040" y="6343920"/>
            <a:ext cx="4287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FC6C465-8AA2-4FED-85BE-1CAB69330D0A}" type="slidenum">
              <a:rPr b="0" lang="en-US" sz="800" spc="-1" strike="noStrike" cap="all">
                <a:solidFill>
                  <a:srgbClr val="000000"/>
                </a:solidFill>
                <a:latin typeface="Bahnschrift SemiLight"/>
              </a:rPr>
              <a:t>&lt;number&gt;</a:t>
            </a:fld>
            <a:endParaRPr b="0" lang="en-US" sz="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1253960" y="5410080"/>
            <a:ext cx="5760" cy="742680"/>
          </a:xfrm>
          <a:custGeom>
            <a:avLst/>
            <a:gdLst/>
            <a:ahLst/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noFill/>
          <a:ln w="30960">
            <a:solidFill>
              <a:schemeClr val="accent4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CustomShape 2"/>
          <p:cNvSpPr/>
          <p:nvPr/>
        </p:nvSpPr>
        <p:spPr>
          <a:xfrm>
            <a:off x="10866960" y="5761800"/>
            <a:ext cx="742680" cy="5760"/>
          </a:xfrm>
          <a:custGeom>
            <a:avLst/>
            <a:gdLst/>
            <a:ahLst/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noFill/>
          <a:ln w="30960">
            <a:solidFill>
              <a:schemeClr val="accent4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3"/>
          <p:cNvSpPr/>
          <p:nvPr/>
        </p:nvSpPr>
        <p:spPr>
          <a:xfrm>
            <a:off x="11003760" y="5492520"/>
            <a:ext cx="524880" cy="524880"/>
          </a:xfrm>
          <a:custGeom>
            <a:avLst/>
            <a:gdLst/>
            <a:ahLst/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noFill/>
          <a:ln w="30960">
            <a:solidFill>
              <a:schemeClr val="accent4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CustomShape 4"/>
          <p:cNvSpPr/>
          <p:nvPr/>
        </p:nvSpPr>
        <p:spPr>
          <a:xfrm>
            <a:off x="10981800" y="5492520"/>
            <a:ext cx="524880" cy="524880"/>
          </a:xfrm>
          <a:custGeom>
            <a:avLst/>
            <a:gdLst/>
            <a:ahLst/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noFill/>
          <a:ln w="30960">
            <a:solidFill>
              <a:schemeClr val="accent4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PlaceHolder 5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91404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80000"/>
              </a:lnSpc>
            </a:pPr>
            <a:r>
              <a:rPr b="0" lang="en-US" sz="5400" spc="-1" strike="noStrike" cap="all">
                <a:solidFill>
                  <a:srgbClr val="142236"/>
                </a:solidFill>
                <a:latin typeface="Bahnschrift SemiLight"/>
              </a:rPr>
              <a:t>Click to edit Master title style</a:t>
            </a:r>
            <a:endParaRPr b="0" lang="en-US" sz="54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body"/>
          </p:nvPr>
        </p:nvSpPr>
        <p:spPr>
          <a:xfrm>
            <a:off x="609480" y="685800"/>
            <a:ext cx="10972440" cy="451404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7000" spc="-1" strike="noStrike" cap="all">
                <a:solidFill>
                  <a:srgbClr val="f6f2e6"/>
                </a:solidFill>
                <a:latin typeface="Bahnschrift SemiLight"/>
              </a:rPr>
              <a:t>Click to add Statement</a:t>
            </a:r>
            <a:endParaRPr b="0" lang="en-US" sz="7000" spc="-1" strike="noStrike">
              <a:solidFill>
                <a:srgbClr val="f6f2e6"/>
              </a:solidFill>
              <a:latin typeface="Bahnschrift SemiLight"/>
            </a:endParaRPr>
          </a:p>
          <a:p>
            <a:pPr marL="228600">
              <a:lnSpc>
                <a:spcPct val="90000"/>
              </a:lnSpc>
              <a:spcBef>
                <a:spcPts val="499"/>
              </a:spcBef>
            </a:pPr>
            <a:r>
              <a:rPr b="0" lang="en-US" sz="7000" spc="-1" strike="noStrike" cap="all">
                <a:solidFill>
                  <a:srgbClr val="f6f2e6"/>
                </a:solidFill>
                <a:latin typeface="Bahnschrift SemiLight"/>
              </a:rPr>
              <a:t>Second level</a:t>
            </a:r>
            <a:endParaRPr b="0" lang="en-US" sz="7000" spc="-1" strike="noStrike">
              <a:solidFill>
                <a:srgbClr val="f6f2e6"/>
              </a:solidFill>
              <a:latin typeface="Bahnschrift SemiLight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b="0" lang="en-US" sz="7000" spc="-1" strike="noStrike" cap="all">
                <a:solidFill>
                  <a:srgbClr val="f6f2e6"/>
                </a:solidFill>
                <a:latin typeface="Bahnschrift SemiLight"/>
              </a:rPr>
              <a:t>Third level</a:t>
            </a:r>
            <a:endParaRPr b="0" lang="en-US" sz="7000" spc="-1" strike="noStrike">
              <a:solidFill>
                <a:srgbClr val="f6f2e6"/>
              </a:solidFill>
              <a:latin typeface="Bahnschrift SemiLight"/>
            </a:endParaRPr>
          </a:p>
          <a:p>
            <a:pPr marL="685800">
              <a:lnSpc>
                <a:spcPct val="90000"/>
              </a:lnSpc>
              <a:spcBef>
                <a:spcPts val="499"/>
              </a:spcBef>
            </a:pPr>
            <a:r>
              <a:rPr b="0" lang="en-US" sz="7000" spc="-1" strike="noStrike" cap="all">
                <a:solidFill>
                  <a:srgbClr val="f6f2e6"/>
                </a:solidFill>
                <a:latin typeface="Bahnschrift SemiLight"/>
              </a:rPr>
              <a:t>Fourth level</a:t>
            </a:r>
            <a:endParaRPr b="0" lang="en-US" sz="7000" spc="-1" strike="noStrike">
              <a:solidFill>
                <a:srgbClr val="f6f2e6"/>
              </a:solidFill>
              <a:latin typeface="Bahnschrift SemiLight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</a:pPr>
            <a:r>
              <a:rPr b="0" lang="en-US" sz="7000" spc="-1" strike="noStrike" cap="all">
                <a:solidFill>
                  <a:srgbClr val="f6f2e6"/>
                </a:solidFill>
                <a:latin typeface="Bahnschrift SemiLight"/>
              </a:rPr>
              <a:t>Fifth level</a:t>
            </a:r>
            <a:endParaRPr b="0" lang="en-US" sz="7000" spc="-1" strike="noStrike">
              <a:solidFill>
                <a:srgbClr val="f6f2e6"/>
              </a:solidFill>
              <a:latin typeface="Bahnschrift SemiLight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 type="ftr"/>
          </p:nvPr>
        </p:nvSpPr>
        <p:spPr>
          <a:xfrm>
            <a:off x="612720" y="6343920"/>
            <a:ext cx="280512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 cap="all">
                <a:solidFill>
                  <a:srgbClr val="ffffff"/>
                </a:solidFill>
                <a:latin typeface="Bahnschrift SemiLight"/>
              </a:rPr>
              <a:t>Sample Footer Text</a:t>
            </a:r>
            <a:endParaRPr b="0" lang="en-US" sz="800" spc="-1" strike="noStrike">
              <a:latin typeface="Times New Roman"/>
            </a:endParaRPr>
          </a:p>
        </p:txBody>
      </p:sp>
      <p:sp>
        <p:nvSpPr>
          <p:cNvPr id="93" name="PlaceHolder 8"/>
          <p:cNvSpPr>
            <a:spLocks noGrp="1"/>
          </p:cNvSpPr>
          <p:nvPr>
            <p:ph type="dt"/>
          </p:nvPr>
        </p:nvSpPr>
        <p:spPr>
          <a:xfrm>
            <a:off x="8893800" y="6343920"/>
            <a:ext cx="220212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1DD1A99-B9F5-4A04-972B-4969F9BA5724}" type="datetime1">
              <a:rPr b="0" lang="en-US" sz="800" spc="-1" strike="noStrike" cap="all">
                <a:solidFill>
                  <a:srgbClr val="ffffff"/>
                </a:solidFill>
                <a:latin typeface="Bahnschrift SemiLight"/>
              </a:rPr>
              <a:t>05/29/2026</a:t>
            </a:fld>
            <a:endParaRPr b="0" lang="en-US" sz="800" spc="-1" strike="noStrike">
              <a:latin typeface="Times New Roman"/>
            </a:endParaRPr>
          </a:p>
        </p:txBody>
      </p:sp>
      <p:sp>
        <p:nvSpPr>
          <p:cNvPr id="94" name="PlaceHolder 9"/>
          <p:cNvSpPr>
            <a:spLocks noGrp="1"/>
          </p:cNvSpPr>
          <p:nvPr>
            <p:ph type="sldNum"/>
          </p:nvPr>
        </p:nvSpPr>
        <p:spPr>
          <a:xfrm>
            <a:off x="11147040" y="6343920"/>
            <a:ext cx="4287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CC522114-C36F-41BA-886B-4DDD4F87674A}" type="slidenum">
              <a:rPr b="0" lang="en-US" sz="800" spc="-1" strike="noStrike" cap="all">
                <a:solidFill>
                  <a:srgbClr val="ffffff"/>
                </a:solidFill>
                <a:latin typeface="Bahnschrift SemiLight"/>
              </a:rPr>
              <a:t>&lt;number&gt;</a:t>
            </a:fld>
            <a:endParaRPr b="0" lang="en-US" sz="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612720" y="685800"/>
            <a:ext cx="10055160" cy="400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80000"/>
              </a:lnSpc>
            </a:pPr>
            <a:r>
              <a:rPr b="0" lang="en-US" sz="9000" spc="-1" strike="noStrike" cap="all">
                <a:solidFill>
                  <a:srgbClr val="f6f2e6"/>
                </a:solidFill>
                <a:latin typeface="Bahnschrift SemiLight"/>
                <a:ea typeface="Bahnschrift SemiLight"/>
              </a:rPr>
              <a:t>Database per una Catena di Supermercati</a:t>
            </a:r>
            <a:endParaRPr b="0" lang="en-US" sz="9000" spc="-1" strike="noStrike">
              <a:solidFill>
                <a:srgbClr val="000000"/>
              </a:solidFill>
              <a:latin typeface="Bahnschrift SemiLight"/>
            </a:endParaRPr>
          </a:p>
        </p:txBody>
      </p:sp>
      <p:sp>
        <p:nvSpPr>
          <p:cNvPr id="138" name="TextShape 2"/>
          <p:cNvSpPr txBox="1"/>
          <p:nvPr/>
        </p:nvSpPr>
        <p:spPr>
          <a:xfrm>
            <a:off x="609480" y="5427000"/>
            <a:ext cx="9143640" cy="7448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f6f2e6"/>
                </a:solidFill>
                <a:latin typeface="Bahnschrift SemiLight"/>
                <a:ea typeface="Bahnschrift SemiLight"/>
              </a:rPr>
              <a:t>Presentazione Progetto LARSA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416880" y="95364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ctr">
              <a:lnSpc>
                <a:spcPct val="80000"/>
              </a:lnSpc>
            </a:pPr>
            <a:br/>
            <a:br/>
            <a:br/>
            <a:r>
              <a:rPr b="1" lang="en-US" sz="2800" spc="-1" strike="noStrike" cap="all">
                <a:solidFill>
                  <a:srgbClr val="000102"/>
                </a:solidFill>
                <a:latin typeface="Bahnschrift SemiLight"/>
                <a:ea typeface="Bahnschrift SemiLight"/>
              </a:rPr>
              <a:t>Database per una catena di supermercato</a:t>
            </a:r>
            <a:br/>
            <a:endParaRPr b="0" lang="en-US" sz="2800" spc="-1" strike="noStrike">
              <a:solidFill>
                <a:srgbClr val="000000"/>
              </a:solidFill>
              <a:latin typeface="Bahnschrift SemiLight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612720" y="1458000"/>
            <a:ext cx="10963440" cy="4343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000102"/>
                </a:solidFill>
                <a:latin typeface="Bahnschrift SemiLight"/>
              </a:rPr>
              <a:t>Il progetto è un database per gestire le vendite, i prodotti e i clienti di una catena di supermercati. Serve ai proprietari e ai dipendenti dei supermercati per organizzare gli ordini, controllare le scorte e monitorare le vendite in ogni punto vendita.</a:t>
            </a:r>
            <a:endParaRPr b="0" lang="en-US" sz="2400" spc="-1" strike="noStrike">
              <a:solidFill>
                <a:srgbClr val="000102"/>
              </a:solidFill>
              <a:latin typeface="Bahnschrift SemiLigh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b="0" lang="en-US" sz="2400" spc="-1" strike="noStrike">
                <a:solidFill>
                  <a:srgbClr val="000102"/>
                </a:solidFill>
                <a:latin typeface="Bahnschrift SemiLight"/>
              </a:rPr>
              <a:t>Oggi molte informazioni vengono gestite con fogli di carta o Excel, con il rischio di errori o dati incompleti. Con il database, è possibile registrare ogni vendita, sapere quali prodotti sono più richiesti e quali supermercati hanno bisogno di rifornimenti.</a:t>
            </a:r>
            <a:endParaRPr b="0" lang="en-US" sz="2400" spc="-1" strike="noStrike">
              <a:solidFill>
                <a:srgbClr val="000102"/>
              </a:solidFill>
              <a:latin typeface="Bahnschrift SemiLigh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b="0" lang="en-US" sz="2400" spc="-1" strike="noStrike">
                <a:solidFill>
                  <a:srgbClr val="000102"/>
                </a:solidFill>
                <a:latin typeface="Bahnschrift SemiLight"/>
              </a:rPr>
              <a:t>Inoltre, permette di generare report automatici sulle vendite giornaliere, mensili e sui clienti più fedeli, ottimizzando la gestione complessiva della catena.</a:t>
            </a:r>
            <a:endParaRPr b="0" lang="en-US" sz="2400" spc="-1" strike="noStrike">
              <a:solidFill>
                <a:srgbClr val="000102"/>
              </a:solidFill>
              <a:latin typeface="Bahnschrift SemiLight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612720" y="22644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l">
              <a:lnSpc>
                <a:spcPct val="80000"/>
              </a:lnSpc>
            </a:pPr>
            <a:r>
              <a:rPr b="1" lang="en-US" sz="2800" spc="-1" strike="noStrike" cap="all">
                <a:solidFill>
                  <a:srgbClr val="000102"/>
                </a:solidFill>
                <a:latin typeface="Bahnschrift SemiLight"/>
                <a:ea typeface="Bahnschrift SemiLight"/>
              </a:rPr>
              <a:t>Elenco operazioni</a:t>
            </a:r>
            <a:endParaRPr b="0" lang="en-US" sz="2800" spc="-1" strike="noStrike">
              <a:solidFill>
                <a:srgbClr val="000000"/>
              </a:solidFill>
              <a:latin typeface="Bahnschrift SemiLight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612720" y="993600"/>
            <a:ext cx="10963440" cy="5178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Inserire un nuovo cliente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Aggiornare i dati di un cliente (nome, indirizzo, citta)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Eliminare un cliente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Inserire un nuovo prodotto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Aggiornare le informazioni di un prodotto (prezzo, quantita)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Eliminare un prodotto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Registrare un nuovo ordine/vendita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Aggiungere prodotti a un ordine già esistente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Cercare tutti gli ordini di un cliente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Verificare quali prodotti sono esauriti o sotto scorta minima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Contare quante volte un prodotto è stato venduto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Calcolare il totale vendite giornaliero per ogni supermercato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Mostrare i prodotti più venduti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Cercare i clienti più fedeli (più ordini)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marL="285840" indent="-285480" algn="l">
              <a:lnSpc>
                <a:spcPct val="100000"/>
              </a:lnSpc>
              <a:spcBef>
                <a:spcPts val="1001"/>
              </a:spcBef>
              <a:buClr>
                <a:srgbClr val="00010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  <a:ea typeface="Bahnschrift SemiLight"/>
              </a:rPr>
              <a:t>Generare report semplici sulle vendite (giornalieri o mensili)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algn="l">
              <a:lnSpc>
                <a:spcPct val="100000"/>
              </a:lnSpc>
              <a:spcBef>
                <a:spcPts val="1001"/>
              </a:spcBef>
            </a:pPr>
            <a:br/>
            <a:br/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  <a:p>
            <a:pPr algn="l">
              <a:lnSpc>
                <a:spcPct val="100000"/>
              </a:lnSpc>
              <a:spcBef>
                <a:spcPts val="1001"/>
              </a:spcBef>
            </a:pP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612720" y="49788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ctr">
              <a:lnSpc>
                <a:spcPct val="80000"/>
              </a:lnSpc>
            </a:pPr>
            <a:r>
              <a:rPr b="1" lang="en-US" sz="2400" spc="-1" strike="noStrike" cap="all">
                <a:solidFill>
                  <a:srgbClr val="000102"/>
                </a:solidFill>
                <a:latin typeface="Bahnschrift SemiLight"/>
                <a:ea typeface="Bahnschrift SemiLight"/>
              </a:rPr>
              <a:t xml:space="preserve">Diagramma E-R </a:t>
            </a:r>
            <a:br/>
            <a:endParaRPr b="0" lang="en-US" sz="2400" spc="-1" strike="noStrike">
              <a:solidFill>
                <a:srgbClr val="000000"/>
              </a:solidFill>
              <a:latin typeface="Bahnschrift SemiLight"/>
            </a:endParaRPr>
          </a:p>
        </p:txBody>
      </p:sp>
      <p:pic>
        <p:nvPicPr>
          <p:cNvPr id="144" name="Segnaposto contenuto 3" descr=""/>
          <p:cNvPicPr/>
          <p:nvPr/>
        </p:nvPicPr>
        <p:blipFill>
          <a:blip r:embed="rId1"/>
          <a:stretch/>
        </p:blipFill>
        <p:spPr>
          <a:xfrm>
            <a:off x="2277360" y="925560"/>
            <a:ext cx="7623000" cy="5658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508320" y="12204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ctr">
              <a:lnSpc>
                <a:spcPct val="80000"/>
              </a:lnSpc>
            </a:pPr>
            <a:r>
              <a:rPr b="1" lang="en-US" sz="3600" spc="-1" strike="noStrike" u="sng" cap="all">
                <a:solidFill>
                  <a:srgbClr val="000102"/>
                </a:solidFill>
                <a:uFillTx/>
                <a:latin typeface="Bahnschrift SemiLight"/>
                <a:ea typeface="Bahnschrift SemiLight"/>
              </a:rPr>
              <a:t>Schema LOGICO Normalizzato</a:t>
            </a:r>
            <a:endParaRPr b="0" lang="en-US" sz="3600" spc="-1" strike="noStrike">
              <a:solidFill>
                <a:srgbClr val="000000"/>
              </a:solidFill>
              <a:latin typeface="Bahnschrift SemiLight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612720" y="1254600"/>
            <a:ext cx="10963440" cy="4343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b="1" lang="en-US" sz="2400" spc="-1" strike="noStrike" u="sng">
                <a:solidFill>
                  <a:srgbClr val="000102"/>
                </a:solidFill>
                <a:uFillTx/>
                <a:latin typeface="Bahnschrift SemiLight"/>
                <a:ea typeface="Bahnschrift SemiLight"/>
              </a:rPr>
              <a:t>SUPERMERCATO</a:t>
            </a:r>
            <a:endParaRPr b="0" lang="en-US" sz="2400" spc="-1" strike="noStrike">
              <a:solidFill>
                <a:srgbClr val="000102"/>
              </a:solidFill>
              <a:latin typeface="Bahnschrift SemiLight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102"/>
              </a:solidFill>
              <a:latin typeface="Bahnschrift SemiLight"/>
            </a:endParaRPr>
          </a:p>
        </p:txBody>
      </p:sp>
      <p:graphicFrame>
        <p:nvGraphicFramePr>
          <p:cNvPr id="147" name="Table 3"/>
          <p:cNvGraphicFramePr/>
          <p:nvPr/>
        </p:nvGraphicFramePr>
        <p:xfrm>
          <a:off x="1471680" y="1826640"/>
          <a:ext cx="9029880" cy="3213000"/>
        </p:xfrm>
        <a:graphic>
          <a:graphicData uri="http://schemas.openxmlformats.org/drawingml/2006/table">
            <a:tbl>
              <a:tblPr/>
              <a:tblGrid>
                <a:gridCol w="3006000"/>
                <a:gridCol w="2486880"/>
                <a:gridCol w="3537000"/>
              </a:tblGrid>
              <a:tr h="5562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Attributo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Tipo dato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62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id_sede (PK)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Chiave primaria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7184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nome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 NULL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62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sede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Nome citta / sede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725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indirizzo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 NULL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612720" y="119736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2400" spc="-1" strike="noStrike" cap="all">
                <a:solidFill>
                  <a:srgbClr val="000102"/>
                </a:solidFill>
                <a:latin typeface="Bahnschrift SemiLight"/>
              </a:rPr>
              <a:t xml:space="preserve">Cliente </a:t>
            </a:r>
            <a:endParaRPr b="0" lang="en-US" sz="2400" spc="-1" strike="noStrike">
              <a:solidFill>
                <a:srgbClr val="000000"/>
              </a:solidFill>
              <a:latin typeface="Bahnschrift SemiLight"/>
            </a:endParaRPr>
          </a:p>
        </p:txBody>
      </p:sp>
      <p:graphicFrame>
        <p:nvGraphicFramePr>
          <p:cNvPr id="149" name="Table 2"/>
          <p:cNvGraphicFramePr/>
          <p:nvPr/>
        </p:nvGraphicFramePr>
        <p:xfrm>
          <a:off x="1586520" y="1962360"/>
          <a:ext cx="9023400" cy="3187800"/>
        </p:xfrm>
        <a:graphic>
          <a:graphicData uri="http://schemas.openxmlformats.org/drawingml/2006/table">
            <a:tbl>
              <a:tblPr/>
              <a:tblGrid>
                <a:gridCol w="3003840"/>
                <a:gridCol w="2485080"/>
                <a:gridCol w="3534480"/>
              </a:tblGrid>
              <a:tr h="4626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Attributo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Tipo dato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626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id_Cliente (PK)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Chiave primaria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681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nome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 NULL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681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cognome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 NULL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626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email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Valore univoco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6368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punti_fedelta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Default: 0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612720" y="133308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2400" spc="-1" strike="noStrike" cap="all">
                <a:solidFill>
                  <a:srgbClr val="000102"/>
                </a:solidFill>
                <a:latin typeface="Bahnschrift SemiLight"/>
              </a:rPr>
              <a:t>prodotto</a:t>
            </a:r>
            <a:endParaRPr b="0" lang="en-US" sz="2400" spc="-1" strike="noStrike">
              <a:solidFill>
                <a:srgbClr val="000000"/>
              </a:solidFill>
              <a:latin typeface="Bahnschrift SemiLight"/>
            </a:endParaRPr>
          </a:p>
        </p:txBody>
      </p:sp>
      <p:graphicFrame>
        <p:nvGraphicFramePr>
          <p:cNvPr id="151" name="Table 2"/>
          <p:cNvGraphicFramePr/>
          <p:nvPr/>
        </p:nvGraphicFramePr>
        <p:xfrm>
          <a:off x="1437480" y="2152440"/>
          <a:ext cx="9307800" cy="3065400"/>
        </p:xfrm>
        <a:graphic>
          <a:graphicData uri="http://schemas.openxmlformats.org/drawingml/2006/table">
            <a:tbl>
              <a:tblPr/>
              <a:tblGrid>
                <a:gridCol w="3098520"/>
                <a:gridCol w="2563200"/>
                <a:gridCol w="3646080"/>
              </a:tblGrid>
              <a:tr h="56628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Attributo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Tipo dato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28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ID_Prodotto (PK)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Chiave primaria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995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Nome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 NULL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28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Categoria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es. Alimentari, Bevande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70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Prezzo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DECIMAL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Prezzo di listino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612720" y="112428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2400" spc="-1" strike="noStrike" cap="all">
                <a:solidFill>
                  <a:srgbClr val="000102"/>
                </a:solidFill>
                <a:latin typeface="Bahnschrift SemiLight"/>
              </a:rPr>
              <a:t>dipendenti</a:t>
            </a:r>
            <a:endParaRPr b="0" lang="en-US" sz="2400" spc="-1" strike="noStrike">
              <a:solidFill>
                <a:srgbClr val="000000"/>
              </a:solidFill>
              <a:latin typeface="Bahnschrift SemiLight"/>
            </a:endParaRPr>
          </a:p>
        </p:txBody>
      </p:sp>
      <p:graphicFrame>
        <p:nvGraphicFramePr>
          <p:cNvPr id="153" name="Table 2"/>
          <p:cNvGraphicFramePr/>
          <p:nvPr/>
        </p:nvGraphicFramePr>
        <p:xfrm>
          <a:off x="1374840" y="1881000"/>
          <a:ext cx="9441360" cy="2781360"/>
        </p:xfrm>
        <a:graphic>
          <a:graphicData uri="http://schemas.openxmlformats.org/drawingml/2006/table">
            <a:tbl>
              <a:tblPr/>
              <a:tblGrid>
                <a:gridCol w="3142800"/>
                <a:gridCol w="2600280"/>
                <a:gridCol w="3698280"/>
              </a:tblGrid>
              <a:tr h="3729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Attributo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Tipo dato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29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ID_dipendente (PK)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Chiave primaria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95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Nome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 NULL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95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Cognome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 NULL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29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Ruolo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VARCHAR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es. Cassiere, Magazziniere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0444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FK_Sede (FK)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Riferimento a SUPERMERCATO(id_sede)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612720" y="126000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2400" spc="-1" strike="noStrike" cap="all">
                <a:solidFill>
                  <a:srgbClr val="000102"/>
                </a:solidFill>
                <a:latin typeface="Bahnschrift SemiLight"/>
              </a:rPr>
              <a:t>ordine</a:t>
            </a:r>
            <a:endParaRPr b="0" lang="en-US" sz="2400" spc="-1" strike="noStrike">
              <a:solidFill>
                <a:srgbClr val="000000"/>
              </a:solidFill>
              <a:latin typeface="Bahnschrift SemiLight"/>
            </a:endParaRPr>
          </a:p>
        </p:txBody>
      </p:sp>
      <p:graphicFrame>
        <p:nvGraphicFramePr>
          <p:cNvPr id="155" name="Table 2"/>
          <p:cNvGraphicFramePr/>
          <p:nvPr/>
        </p:nvGraphicFramePr>
        <p:xfrm>
          <a:off x="1690920" y="2025000"/>
          <a:ext cx="8806320" cy="2801520"/>
        </p:xfrm>
        <a:graphic>
          <a:graphicData uri="http://schemas.openxmlformats.org/drawingml/2006/table">
            <a:tbl>
              <a:tblPr/>
              <a:tblGrid>
                <a:gridCol w="2931480"/>
                <a:gridCol w="2425320"/>
                <a:gridCol w="3449520"/>
              </a:tblGrid>
              <a:tr h="33372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Attributo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Tipo dato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372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ID_Ordine (PK)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Chiave primaria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664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Data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DATE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 NULL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26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FK_Cliente (FK)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Riferimento a CLIENTE(id_Cliente)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26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FK_Sede (FK)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Riferimento a SUPERMERCATO(id_sede)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26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FK_Dipendente (FK)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Riferimento a DIPENDENTE(ID_dipendente)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612720" y="151056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2400" spc="-1" strike="noStrike" cap="all">
                <a:solidFill>
                  <a:srgbClr val="000102"/>
                </a:solidFill>
                <a:latin typeface="Bahnschrift SemiLight"/>
              </a:rPr>
              <a:t>Riga_ordine</a:t>
            </a:r>
            <a:endParaRPr b="0" lang="en-US" sz="2400" spc="-1" strike="noStrike">
              <a:solidFill>
                <a:srgbClr val="000000"/>
              </a:solidFill>
              <a:latin typeface="Bahnschrift SemiLight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612720" y="1828800"/>
            <a:ext cx="10963440" cy="4343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000102"/>
                </a:solidFill>
                <a:latin typeface="Bahnschrift SemiLight"/>
              </a:rPr>
              <a:t xml:space="preserve"> </a:t>
            </a:r>
            <a:endParaRPr b="0" lang="en-US" sz="1400" spc="-1" strike="noStrike">
              <a:solidFill>
                <a:srgbClr val="000102"/>
              </a:solidFill>
              <a:latin typeface="Bahnschrift SemiLight"/>
            </a:endParaRPr>
          </a:p>
        </p:txBody>
      </p:sp>
      <p:graphicFrame>
        <p:nvGraphicFramePr>
          <p:cNvPr id="158" name="Table 3"/>
          <p:cNvGraphicFramePr/>
          <p:nvPr/>
        </p:nvGraphicFramePr>
        <p:xfrm>
          <a:off x="2150280" y="2275560"/>
          <a:ext cx="7890120" cy="2843640"/>
        </p:xfrm>
        <a:graphic>
          <a:graphicData uri="http://schemas.openxmlformats.org/drawingml/2006/table">
            <a:tbl>
              <a:tblPr/>
              <a:tblGrid>
                <a:gridCol w="2626560"/>
                <a:gridCol w="2172960"/>
                <a:gridCol w="3090600"/>
              </a:tblGrid>
              <a:tr h="5688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Attributo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Tipo dato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88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FK_Ordine (PK, FK)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Riferimento a ORDINE(ID_Ordine)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88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FK_Prodotto (PK, FK)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Riferimento a PRODOTTO(ID_Prodotto)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88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Quantita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Quantita ordinata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88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Prezzo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DECIMAL(10,2)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Prezzo al momento dell'ordine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612720" y="176112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2400" spc="-1" strike="noStrike" cap="all">
                <a:solidFill>
                  <a:srgbClr val="000102"/>
                </a:solidFill>
                <a:latin typeface="Bahnschrift SemiLight"/>
              </a:rPr>
              <a:t>Scorta</a:t>
            </a:r>
            <a:endParaRPr b="0" lang="en-US" sz="2400" spc="-1" strike="noStrike">
              <a:solidFill>
                <a:srgbClr val="000000"/>
              </a:solidFill>
              <a:latin typeface="Bahnschrift SemiLight"/>
            </a:endParaRPr>
          </a:p>
        </p:txBody>
      </p:sp>
      <p:graphicFrame>
        <p:nvGraphicFramePr>
          <p:cNvPr id="160" name="Table 2"/>
          <p:cNvGraphicFramePr/>
          <p:nvPr/>
        </p:nvGraphicFramePr>
        <p:xfrm>
          <a:off x="1753560" y="2526120"/>
          <a:ext cx="8673120" cy="2476080"/>
        </p:xfrm>
        <a:graphic>
          <a:graphicData uri="http://schemas.openxmlformats.org/drawingml/2006/table">
            <a:tbl>
              <a:tblPr/>
              <a:tblGrid>
                <a:gridCol w="2887200"/>
                <a:gridCol w="2388600"/>
                <a:gridCol w="3397320"/>
              </a:tblGrid>
              <a:tr h="4572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Attributo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Tipo dato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Note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26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FK_Sede (PK, FK)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Riferimento a SUPERMERCATO(id_sede)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526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FK_Prodotto (PK, FK)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Riferimento a PRODOTTO(ID_Prodotto)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Quantita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Quantita disponibile in sede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648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Soglia_minima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Soglia per riordino automatico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612720" y="1207800"/>
            <a:ext cx="10963440" cy="7617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80000"/>
              </a:lnSpc>
            </a:pPr>
            <a:r>
              <a:rPr b="1" lang="en-US" sz="2400" spc="-1" strike="noStrike" cap="all">
                <a:solidFill>
                  <a:srgbClr val="000102"/>
                </a:solidFill>
                <a:latin typeface="Bahnschrift SemiLight"/>
              </a:rPr>
              <a:t>relazioni</a:t>
            </a:r>
            <a:endParaRPr b="0" lang="en-US" sz="2400" spc="-1" strike="noStrike">
              <a:solidFill>
                <a:srgbClr val="000000"/>
              </a:solidFill>
              <a:latin typeface="Bahnschrift SemiLight"/>
            </a:endParaRPr>
          </a:p>
        </p:txBody>
      </p:sp>
      <p:graphicFrame>
        <p:nvGraphicFramePr>
          <p:cNvPr id="162" name="Table 2"/>
          <p:cNvGraphicFramePr/>
          <p:nvPr/>
        </p:nvGraphicFramePr>
        <p:xfrm>
          <a:off x="612720" y="1964520"/>
          <a:ext cx="10963080" cy="3429360"/>
        </p:xfrm>
        <a:graphic>
          <a:graphicData uri="http://schemas.openxmlformats.org/drawingml/2006/table">
            <a:tbl>
              <a:tblPr/>
              <a:tblGrid>
                <a:gridCol w="2803680"/>
                <a:gridCol w="2818440"/>
                <a:gridCol w="2076840"/>
                <a:gridCol w="3264120"/>
              </a:tblGrid>
              <a:tr h="4284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Entita 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Entita 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Cardinalita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Relazione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284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SUPERMERCATO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DIPENDENTE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1 : 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impiega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284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SUPERMERCATO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ORDINE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1 : 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gestisce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284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SUPERMERCATO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SCORTA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1 : 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ha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284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CLIENTE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ORDINE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1 : 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effettua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284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DIPENDENTE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ORDINE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1 : 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elabora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2840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ORDINE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RIGA_ORDINE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1 : 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contiene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30560"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PRODOTTO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RIGA_ORDINE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1 : 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7520" rIns="47520" tIns="47520" bIns="475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hnschrift SemiLight"/>
                        </a:rPr>
                        <a:t>incluso in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7520" marR="475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612720" y="-1134000"/>
            <a:ext cx="10652400" cy="9140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Bahnschrift SemiLight"/>
            </a:endParaRPr>
          </a:p>
        </p:txBody>
      </p:sp>
      <p:sp>
        <p:nvSpPr>
          <p:cNvPr id="164" name="TextShape 2"/>
          <p:cNvSpPr txBox="1"/>
          <p:nvPr/>
        </p:nvSpPr>
        <p:spPr>
          <a:xfrm>
            <a:off x="609480" y="685800"/>
            <a:ext cx="10972440" cy="45140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0" lang="en-US" sz="7000" spc="-1" strike="noStrike" cap="all">
                <a:solidFill>
                  <a:srgbClr val="f6f2e6"/>
                </a:solidFill>
                <a:latin typeface="Bahnschrift SemiLight"/>
              </a:rPr>
              <a:t xml:space="preserve">Passiamo alla parte di </a:t>
            </a:r>
            <a:r>
              <a:rPr b="1" lang="en-US" sz="7000" spc="-1" strike="noStrike" cap="all">
                <a:solidFill>
                  <a:srgbClr val="f6f2e6"/>
                </a:solidFill>
                <a:latin typeface="Bahnschrift SemiLight"/>
              </a:rPr>
              <a:t>sql</a:t>
            </a:r>
            <a:endParaRPr b="0" lang="en-US" sz="7000" spc="-1" strike="noStrike">
              <a:solidFill>
                <a:srgbClr val="f6f2e6"/>
              </a:solidFill>
              <a:latin typeface="Bahnschrift SemiLight"/>
            </a:endParaRPr>
          </a:p>
        </p:txBody>
      </p:sp>
    </p:spTree>
  </p:cSld>
  <mc:AlternateContent>
    <mc:Choice Requires="p14">
      <p:transition spd="slow" p14:dur="125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Trio_Office/6.2.8.2$Windows_x86 LibreOffice_project/</Application>
  <Words>5</Words>
  <Paragraphs>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2026-05-18T13:44:41Z</dcterms:created>
  <dc:creator/>
  <dc:description/>
  <dc:language>en-US</dc:language>
  <cp:lastModifiedBy/>
  <dcterms:modified xsi:type="dcterms:W3CDTF">2026-05-29T06:09:30Z</dcterms:modified>
  <cp:revision>237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0x01010079F111ED35F8CC479449609E8A0923A6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MediaServiceImageTags">
    <vt:lpwstr/>
  </property>
  <property fmtid="{D5CDD505-2E9C-101B-9397-08002B2CF9AE}" pid="9" name="Notes">
    <vt:i4>1</vt:i4>
  </property>
  <property fmtid="{D5CDD505-2E9C-101B-9397-08002B2CF9AE}" pid="10" name="PresentationFormat">
    <vt:lpwstr>Widescreen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13</vt:i4>
  </property>
</Properties>
</file>